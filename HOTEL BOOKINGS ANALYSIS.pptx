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57" r:id="rId4"/>
    <p:sldId id="273" r:id="rId5"/>
    <p:sldId id="274" r:id="rId6"/>
    <p:sldId id="275" r:id="rId7"/>
    <p:sldId id="276" r:id="rId8"/>
    <p:sldId id="27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62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74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4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4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04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9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3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26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84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3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50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44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9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7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00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24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3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90AF031-7020-449B-B355-BB137A9BD2F7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8700502-A54B-4427-8BEC-A79413A69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31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AA777-FE08-4ED6-9983-423C57FDF9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58C47-570C-4AA0-A322-26B45FE44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9026" y="5473148"/>
            <a:ext cx="3949148" cy="954157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: 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Fasna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Date:31/07/2025</a:t>
            </a:r>
          </a:p>
        </p:txBody>
      </p:sp>
    </p:spTree>
    <p:extLst>
      <p:ext uri="{BB962C8B-B14F-4D97-AF65-F5344CB8AC3E}">
        <p14:creationId xmlns:p14="http://schemas.microsoft.com/office/powerpoint/2010/main" val="262545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0C027-5F38-4CEC-998E-5666C391A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299"/>
            <a:ext cx="9905998" cy="190500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D6053-5CB2-408F-952E-BA151F15C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635" y="1484244"/>
            <a:ext cx="10561982" cy="461175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 hotel booking records from 2013 to 2017.</a:t>
            </a:r>
          </a:p>
          <a:p>
            <a:pPr marL="0" indent="0">
              <a:buNone/>
            </a:pPr>
            <a:endParaRPr lang="en-US" sz="1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over 30,000 entries from both city and resort hotels.</a:t>
            </a:r>
          </a:p>
          <a:p>
            <a:pPr marL="0" indent="0">
              <a:buNone/>
            </a:pPr>
            <a:endParaRPr lang="en-US" sz="1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and arrival dates.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 and number of nights.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daily rate(ADR) and revenue.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type and distribution channel.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status and revenue loss.</a:t>
            </a:r>
          </a:p>
          <a:p>
            <a:pPr marL="0" indent="0">
              <a:buNone/>
            </a:pPr>
            <a:endParaRPr lang="en-US" sz="1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comprehensive analysis of booking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revenue trends, and cancellation patterns.</a:t>
            </a:r>
          </a:p>
        </p:txBody>
      </p:sp>
    </p:spTree>
    <p:extLst>
      <p:ext uri="{BB962C8B-B14F-4D97-AF65-F5344CB8AC3E}">
        <p14:creationId xmlns:p14="http://schemas.microsoft.com/office/powerpoint/2010/main" val="548788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81ADD-3172-43EA-9E3B-405298A7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7597-8286-48EA-A030-1DE95C568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781300"/>
            <a:ext cx="9905998" cy="312420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cap="none" dirty="0"/>
              <a:t>Identify key factors leading to booking cancellation to help reduce cancellation rates.</a:t>
            </a:r>
          </a:p>
          <a:p>
            <a:pPr marL="0" indent="0">
              <a:buNone/>
            </a:pPr>
            <a:endParaRPr lang="en-US" sz="1800" cap="none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cap="none" dirty="0"/>
              <a:t>Analyze revenue pattern across customer segments to discover high-value profiles.</a:t>
            </a:r>
          </a:p>
          <a:p>
            <a:pPr marL="0" indent="0">
              <a:buNone/>
            </a:pPr>
            <a:endParaRPr lang="en-US" sz="1800" cap="none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cap="none" dirty="0"/>
              <a:t>Optimize pricing strategies by examining the relationship between Lead time, Seasonal demand and Average daily rate.</a:t>
            </a:r>
          </a:p>
          <a:p>
            <a:pPr marL="0" indent="0">
              <a:buNone/>
            </a:pPr>
            <a:endParaRPr lang="en-US" sz="1800" cap="none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1800" cap="none" dirty="0"/>
              <a:t>Evaluate the effectiveness of distribution channels to identify the most profitable booking sources.</a:t>
            </a:r>
          </a:p>
        </p:txBody>
      </p:sp>
    </p:spTree>
    <p:extLst>
      <p:ext uri="{BB962C8B-B14F-4D97-AF65-F5344CB8AC3E}">
        <p14:creationId xmlns:p14="http://schemas.microsoft.com/office/powerpoint/2010/main" val="110972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3986D3-00F7-4FF0-8A41-37DE329A1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18" y="251791"/>
            <a:ext cx="10659963" cy="583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83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2F5A56-D7CE-47C2-BE2A-E791CD842984}"/>
              </a:ext>
            </a:extLst>
          </p:cNvPr>
          <p:cNvSpPr txBox="1"/>
          <p:nvPr/>
        </p:nvSpPr>
        <p:spPr>
          <a:xfrm>
            <a:off x="2239616" y="543339"/>
            <a:ext cx="7103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Cancellation</a:t>
            </a:r>
            <a:r>
              <a:rPr lang="en-US" sz="32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hotel type</a:t>
            </a:r>
            <a:endParaRPr lang="en-US" sz="3200" cap="al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089D1-18B8-4124-AB96-E7B52F39A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52" y="1619579"/>
            <a:ext cx="9906096" cy="36188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3960C4-35B3-4207-84E0-D4C250022C1B}"/>
              </a:ext>
            </a:extLst>
          </p:cNvPr>
          <p:cNvSpPr txBox="1"/>
          <p:nvPr/>
        </p:nvSpPr>
        <p:spPr>
          <a:xfrm>
            <a:off x="1142952" y="5729886"/>
            <a:ext cx="990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cancellations (75%) occur in city hotels, suggesting greater booking flexibility or shorter stays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007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2BE806-8B72-4766-8453-EE538CFF1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365" y="1867577"/>
            <a:ext cx="9908867" cy="31228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837D45-834F-4BF7-B665-8EB1193A31F9}"/>
              </a:ext>
            </a:extLst>
          </p:cNvPr>
          <p:cNvSpPr txBox="1"/>
          <p:nvPr/>
        </p:nvSpPr>
        <p:spPr>
          <a:xfrm>
            <a:off x="1338469" y="768626"/>
            <a:ext cx="9515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Channel-wise revenue vs loss analysis</a:t>
            </a:r>
            <a:endParaRPr lang="en-US" sz="3200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A60A0-412A-42B3-B9A3-77A8A7AAA1D5}"/>
              </a:ext>
            </a:extLst>
          </p:cNvPr>
          <p:cNvSpPr txBox="1"/>
          <p:nvPr/>
        </p:nvSpPr>
        <p:spPr>
          <a:xfrm>
            <a:off x="424070" y="5618922"/>
            <a:ext cx="10931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Travel Agents generate the highest revenue but also account for the largest revenue loss due to cancellations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421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F0C7B-E80F-4495-BD35-2D624F80E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52" y="1307613"/>
            <a:ext cx="9906096" cy="3156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14288D-5F11-4ABF-A2BE-60955637CB73}"/>
              </a:ext>
            </a:extLst>
          </p:cNvPr>
          <p:cNvSpPr txBox="1"/>
          <p:nvPr/>
        </p:nvSpPr>
        <p:spPr>
          <a:xfrm>
            <a:off x="1656521" y="371061"/>
            <a:ext cx="9395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Monthly booking trends by lead time</a:t>
            </a:r>
            <a:endParaRPr lang="en-US" sz="3200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0D771-0E46-476D-A033-0337E4680D3A}"/>
              </a:ext>
            </a:extLst>
          </p:cNvPr>
          <p:cNvSpPr txBox="1"/>
          <p:nvPr/>
        </p:nvSpPr>
        <p:spPr>
          <a:xfrm>
            <a:off x="291548" y="5286610"/>
            <a:ext cx="11900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peak between April and august, especially during summer season with longer lead time(180+days), indicating strong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demand and opportunities for optimize pricing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5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0EA3AB-F153-432E-8AE2-C5E98660C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32" y="1970824"/>
            <a:ext cx="4527709" cy="31256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FD657D-36D0-403A-951B-230EDE36DDC6}"/>
              </a:ext>
            </a:extLst>
          </p:cNvPr>
          <p:cNvSpPr txBox="1"/>
          <p:nvPr/>
        </p:nvSpPr>
        <p:spPr>
          <a:xfrm>
            <a:off x="1510748" y="834887"/>
            <a:ext cx="9925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cap="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Revenue by customer type &amp; channel</a:t>
            </a:r>
            <a:endParaRPr lang="en-US" sz="3200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FCCEC-F151-45A3-BFE4-808C5BE19522}"/>
              </a:ext>
            </a:extLst>
          </p:cNvPr>
          <p:cNvSpPr txBox="1"/>
          <p:nvPr/>
        </p:nvSpPr>
        <p:spPr>
          <a:xfrm>
            <a:off x="636103" y="5622777"/>
            <a:ext cx="978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revenue is generated from Transient customer booking through Online Travel Agents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D14A6-4A42-4F11-8213-D18963447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352" y="1970824"/>
            <a:ext cx="4530480" cy="312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9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CE66-5DC3-4B46-A900-A799CED63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891" y="114300"/>
            <a:ext cx="9905998" cy="156872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47A1B-3A10-4CD0-A0D1-BC3C1D79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576" y="911087"/>
            <a:ext cx="9905998" cy="50358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hotels experience significantly higher cancellation compared to resort hotels.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guests prefer city hotels, indicating stronger urban demand.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Portugal shows the highest number of cancellations, hinting at regional instability or travel flexibility.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revenue peaked in 2016, then declined in 2017.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travel Agent generate both the highest revenue and the most cancellations.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between April to August, especially with long lead times(180+ days).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 customers and Online Travel Agent Channels Contribute the largest portion of revenue.</a:t>
            </a:r>
          </a:p>
        </p:txBody>
      </p:sp>
    </p:spTree>
    <p:extLst>
      <p:ext uri="{BB962C8B-B14F-4D97-AF65-F5344CB8AC3E}">
        <p14:creationId xmlns:p14="http://schemas.microsoft.com/office/powerpoint/2010/main" val="2832539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E0664-F5B2-450A-95B8-479576FE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78296"/>
            <a:ext cx="9905998" cy="190500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5743-E454-430D-819B-1E94F1A50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55305"/>
            <a:ext cx="10295213" cy="4492486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Enforcing stricter cancellation policies or offering incentives for non-refundable booking.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loyalty programs to shift bookings to direct channels.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targeted campaigns in high-cancellation regions to promote non-refundable deals and early bookings.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resort promotion through bundled vacation packages to increase occupancy and diversify booking distribution.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flexible stay options to attract diverse guests needs.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communication with pre-arrival guests to reduce last-minute cancellations.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guests reviews and ratings to identify improvement areas and enhance retention.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cap="none" dirty="0"/>
          </a:p>
        </p:txBody>
      </p:sp>
    </p:spTree>
    <p:extLst>
      <p:ext uri="{BB962C8B-B14F-4D97-AF65-F5344CB8AC3E}">
        <p14:creationId xmlns:p14="http://schemas.microsoft.com/office/powerpoint/2010/main" val="3687931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430997-5A58-4875-8FF5-CC5EF0E2BA73}"/>
              </a:ext>
            </a:extLst>
          </p:cNvPr>
          <p:cNvSpPr txBox="1"/>
          <p:nvPr/>
        </p:nvSpPr>
        <p:spPr>
          <a:xfrm>
            <a:off x="1133061" y="2729949"/>
            <a:ext cx="10369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reveals key factors driving booking cancellations, revenue patterns, pricing insights, and channel effectiveness. By implementing data-driven strategies, the hotel can significantly improve profitability and guests retention</a:t>
            </a:r>
            <a:r>
              <a:rPr lang="en-US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95AB7-5E4F-4C35-B0E4-C79D6606ABF2}"/>
              </a:ext>
            </a:extLst>
          </p:cNvPr>
          <p:cNvSpPr txBox="1"/>
          <p:nvPr/>
        </p:nvSpPr>
        <p:spPr>
          <a:xfrm>
            <a:off x="4479236" y="1205948"/>
            <a:ext cx="3365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645175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12B7-980C-41CA-95A3-EF63FFB02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76500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17678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448</TotalTime>
  <Words>456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Courier New</vt:lpstr>
      <vt:lpstr>Times New Roman</vt:lpstr>
      <vt:lpstr>Wingdings</vt:lpstr>
      <vt:lpstr>Mesh</vt:lpstr>
      <vt:lpstr>HOTEL BOOKINGS ANALYSIS</vt:lpstr>
      <vt:lpstr>Dataset overview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findings</vt:lpstr>
      <vt:lpstr>recommendation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BOOKINGS ANALYSIS</dc:title>
  <dc:creator>user</dc:creator>
  <cp:lastModifiedBy>user</cp:lastModifiedBy>
  <cp:revision>22</cp:revision>
  <dcterms:created xsi:type="dcterms:W3CDTF">2025-07-28T12:01:06Z</dcterms:created>
  <dcterms:modified xsi:type="dcterms:W3CDTF">2025-12-05T10:18:32Z</dcterms:modified>
</cp:coreProperties>
</file>